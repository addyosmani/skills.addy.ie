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52A8FF"/>
                </a:solidFill>
                <a:latin typeface="Geist Mono"/>
              </a:rPr>
              <a:t>THE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Geist"/>
              </a:rPr>
              <a:t>agent-skills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A1A1A1"/>
                </a:solidFill>
                <a:latin typeface="Geist"/>
              </a:rPr>
              <a:t>Production-grade engineering skills for AI coding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7D7D7D"/>
                </a:solidFill>
                <a:latin typeface="Geist"/>
              </a:rPr>
              <a:t>What they are, and why they matter.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52A8FF"/>
                </a:solidFill>
                <a:latin typeface="Geist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FFFFF"/>
                </a:solidFill>
                <a:latin typeface="Geist"/>
              </a:rPr>
              <a:t>AI coding agents default to the shortest path.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9144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A1A1A1"/>
                </a:solidFill>
                <a:latin typeface="Geist"/>
              </a:rPr>
              <a:t>That usually means skipping specs, tests, and reviews. The practices that make software reliable are the first to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52A8FF"/>
                </a:solidFill>
                <a:latin typeface="Geist Mono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Geist"/>
              </a:rPr>
              <a:t>A skill is a workflow, not a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424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52A8FF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Structured steps the agent follows, with checkpoints and exit criteria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52A8FF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An anti-rationalization table that rebuts the excuses to skip a step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52A8FF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Red flags that signal the process is being violated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52A8FF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Verification that demands evidence: tests, build output, runtime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52A8FF"/>
                </a:solidFill>
                <a:latin typeface="Geist Mono"/>
              </a:rPr>
              <a:t>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ist"/>
              </a:rPr>
              <a:t>Every skill has the same shape</a:t>
            </a:r>
          </a:p>
        </p:txBody>
      </p:sp>
      <p:pic>
        <p:nvPicPr>
          <p:cNvPr id="4" name="Picture 3" descr="skill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9052560" cy="5092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D7D7D"/>
                </a:solidFill>
                <a:latin typeface="Geist"/>
              </a:rPr>
              <a:t>Frontmatter routes the work. The body is a process. Guardrails and proof are built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52A8FF"/>
                </a:solidFill>
                <a:latin typeface="Geist Mono"/>
              </a:rPr>
              <a:t>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ist"/>
              </a:rPr>
              <a:t>One command per phase, Define to Ship</a:t>
            </a:r>
          </a:p>
        </p:txBody>
      </p:sp>
      <p:pic>
        <p:nvPicPr>
          <p:cNvPr id="4" name="Picture 3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9052560" cy="50920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D7D7D"/>
                </a:solidFill>
                <a:latin typeface="Geist"/>
              </a:rPr>
              <a:t>24 skills spanning the whole SDLC. The right ones load automatically for each phase.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52A8FF"/>
                </a:solidFill>
                <a:latin typeface="Geist Mono"/>
              </a:rPr>
              <a:t>GET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Geist"/>
              </a:rPr>
              <a:t>Install into 70+ agents in one command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26080"/>
            <a:ext cx="7680960" cy="868680"/>
          </a:xfrm>
          <a:prstGeom prst="roundRect">
            <a:avLst/>
          </a:prstGeom>
          <a:solidFill>
            <a:srgbClr val="0E0E0E"/>
          </a:solidFill>
          <a:ln w="12700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ctr"/>
            <a:r>
              <a:rPr sz="2000">
                <a:solidFill>
                  <a:srgbClr val="52A8FF"/>
                </a:solidFill>
                <a:latin typeface="Geist Mono"/>
              </a:rPr>
              <a:t>$ </a:t>
            </a:r>
            <a:r>
              <a:rPr sz="2000">
                <a:solidFill>
                  <a:srgbClr val="EDEDED"/>
                </a:solidFill>
                <a:latin typeface="Geist Mono"/>
              </a:rPr>
              <a:t>npx skills add addyosmani/agent-skills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9601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A1A1A1"/>
                </a:solidFill>
                <a:latin typeface="Geist"/>
              </a:rPr>
              <a:t>Works with Claude Code, Codex, Cursor, Copilot, and more. Or add a single skill with --skill.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52A8FF"/>
                </a:solidFill>
                <a:latin typeface="Geist Mono"/>
              </a:rPr>
              <a:t>YOUR FIRST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Geist"/>
              </a:rPr>
              <a:t>Start with a spec, then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424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52A8FF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Run /spec to write a short PRD before any code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52A8FF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Run /build to implement in thin, tested slices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52A8FF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Every slice is committed and verified individually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200">
                <a:solidFill>
                  <a:srgbClr val="52A8FF"/>
                </a:solidFill>
                <a:latin typeface="Geist Mono"/>
              </a:rPr>
              <a:t>-  </a:t>
            </a:r>
            <a:r>
              <a:rPr sz="2200">
                <a:solidFill>
                  <a:srgbClr val="EDEDED"/>
                </a:solidFill>
                <a:latin typeface="Geist"/>
              </a:rPr>
              <a:t>You approve at each checkpoint. Nothing ships on vibes.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Geist"/>
              </a:rPr>
              <a:t>Give your agent a senior engineer’s instincts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3840480"/>
            <a:ext cx="7680960" cy="868680"/>
          </a:xfrm>
          <a:prstGeom prst="roundRect">
            <a:avLst/>
          </a:prstGeom>
          <a:solidFill>
            <a:srgbClr val="0E0E0E"/>
          </a:solidFill>
          <a:ln w="12700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ctr"/>
            <a:r>
              <a:rPr sz="2000">
                <a:solidFill>
                  <a:srgbClr val="52A8FF"/>
                </a:solidFill>
                <a:latin typeface="Geist Mono"/>
              </a:rPr>
              <a:t>$ </a:t>
            </a:r>
            <a:r>
              <a:rPr sz="2000">
                <a:solidFill>
                  <a:srgbClr val="EDEDED"/>
                </a:solidFill>
                <a:latin typeface="Geist Mono"/>
              </a:rPr>
              <a:t>npx skills add addyosmani/agent-skills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0292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7D7D7D"/>
                </a:solidFill>
                <a:latin typeface="Geist Mono"/>
              </a:rPr>
              <a:t>skills.addy.ie   github.com/addyosmani/agent-skills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>
                <a:solidFill>
                  <a:srgbClr val="A1A1A1"/>
                </a:solidFill>
                <a:latin typeface="Geist Mono"/>
              </a:rPr>
              <a:t>agent</a:t>
            </a:r>
            <a:r>
              <a:rPr sz="1100">
                <a:solidFill>
                  <a:srgbClr val="565656"/>
                </a:solidFill>
                <a:latin typeface="Geist Mono"/>
              </a:rPr>
              <a:t>-skills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1104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65656"/>
                </a:solidFill>
                <a:latin typeface="Geist Mono"/>
              </a:rPr>
              <a:t>agent-skills 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2792" y="63550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65656"/>
                </a:solidFill>
                <a:latin typeface="Geist Mono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